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01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51435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4" name="Shape 1"/>
          <p:cNvSpPr/>
          <p:nvPr/>
        </p:nvSpPr>
        <p:spPr>
          <a:xfrm>
            <a:off x="571500" y="571500"/>
            <a:ext cx="5143500" cy="575072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5" name="Text 2"/>
          <p:cNvSpPr/>
          <p:nvPr/>
        </p:nvSpPr>
        <p:spPr>
          <a:xfrm>
            <a:off x="492300" y="763287"/>
            <a:ext cx="5143500" cy="43723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fr-CM" sz="2000" b="1" noProof="0" dirty="0">
                <a:solidFill>
                  <a:schemeClr val="bg1"/>
                </a:solidFill>
              </a:rPr>
              <a:t>Système de Gestion de Restaurant</a:t>
            </a:r>
            <a:endParaRPr lang="fr-CM" sz="2000" noProof="0" dirty="0">
              <a:solidFill>
                <a:schemeClr val="bg1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endParaRPr lang="fr-CM" sz="900" noProof="0" dirty="0"/>
          </a:p>
        </p:txBody>
      </p:sp>
      <p:sp>
        <p:nvSpPr>
          <p:cNvPr id="6" name="Text 3"/>
          <p:cNvSpPr/>
          <p:nvPr/>
        </p:nvSpPr>
        <p:spPr>
          <a:xfrm>
            <a:off x="571500" y="1179676"/>
            <a:ext cx="2855205" cy="5870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fr-CM" sz="2000" b="1" kern="0" spc="-2" noProof="0" dirty="0">
                <a:solidFill>
                  <a:srgbClr val="FFFFFF"/>
                </a:solidFill>
              </a:rPr>
              <a:t>Équipe de développement </a:t>
            </a:r>
            <a:endParaRPr lang="fr-CM" sz="2000" noProof="0" dirty="0"/>
          </a:p>
        </p:txBody>
      </p:sp>
      <p:sp>
        <p:nvSpPr>
          <p:cNvPr id="8" name="Text 5"/>
          <p:cNvSpPr/>
          <p:nvPr/>
        </p:nvSpPr>
        <p:spPr>
          <a:xfrm>
            <a:off x="169100" y="4765530"/>
            <a:ext cx="2430411" cy="17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50" noProof="0" dirty="0">
                <a:solidFill>
                  <a:srgbClr val="FFFFFF">
                    <a:alpha val="70000"/>
                  </a:srgbClr>
                </a:solidFill>
              </a:rPr>
              <a:t>Expertise DevOps &amp; Architecture Logicielle</a:t>
            </a:r>
            <a:endParaRPr lang="fr-CM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793569" y="1917666"/>
            <a:ext cx="1682127" cy="1259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ts val="1400"/>
              </a:lnSpc>
              <a:buFont typeface="Wingdings" panose="05000000000000000000" pitchFamily="2" charset="2"/>
              <a:buChar char="v"/>
            </a:pPr>
            <a:r>
              <a:rPr lang="fr-CM" sz="1400" b="1" noProof="0" dirty="0">
                <a:solidFill>
                  <a:schemeClr val="accent2"/>
                </a:solidFill>
              </a:rPr>
              <a:t>KAMGUEM Mckevin</a:t>
            </a:r>
          </a:p>
          <a:p>
            <a:pPr algn="l">
              <a:lnSpc>
                <a:spcPts val="1400"/>
              </a:lnSpc>
            </a:pPr>
            <a:endParaRPr lang="fr-CM" sz="1400" b="1" noProof="0" dirty="0">
              <a:solidFill>
                <a:schemeClr val="accent2"/>
              </a:solidFill>
            </a:endParaRP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v"/>
            </a:pPr>
            <a:r>
              <a:rPr lang="fr-CM" sz="1400" b="1" noProof="0" dirty="0">
                <a:solidFill>
                  <a:schemeClr val="accent2"/>
                </a:solidFill>
              </a:rPr>
              <a:t>PELLAMIE Ornelle </a:t>
            </a:r>
          </a:p>
          <a:p>
            <a:pPr algn="l">
              <a:lnSpc>
                <a:spcPts val="1400"/>
              </a:lnSpc>
            </a:pPr>
            <a:endParaRPr lang="fr-CM" sz="1400" b="1" noProof="0" dirty="0">
              <a:solidFill>
                <a:schemeClr val="accent2"/>
              </a:solidFill>
            </a:endParaRPr>
          </a:p>
          <a:p>
            <a:pPr marL="171450" indent="-171450" algn="l">
              <a:lnSpc>
                <a:spcPts val="1400"/>
              </a:lnSpc>
              <a:buFont typeface="Wingdings" panose="05000000000000000000" pitchFamily="2" charset="2"/>
              <a:buChar char="v"/>
            </a:pPr>
            <a:r>
              <a:rPr lang="fr-CM" sz="1400" b="1" noProof="0" dirty="0">
                <a:solidFill>
                  <a:schemeClr val="accent2"/>
                </a:solidFill>
              </a:rPr>
              <a:t>MOKO Yvan</a:t>
            </a:r>
          </a:p>
          <a:p>
            <a:pPr algn="l">
              <a:lnSpc>
                <a:spcPts val="1400"/>
              </a:lnSpc>
            </a:pPr>
            <a:endParaRPr lang="fr-CM" sz="1400" b="1" noProof="0" dirty="0">
              <a:solidFill>
                <a:schemeClr val="accent2"/>
              </a:solidFill>
            </a:endParaRPr>
          </a:p>
          <a:p>
            <a:pPr marL="171450" indent="-171450" algn="l">
              <a:lnSpc>
                <a:spcPts val="1400"/>
              </a:lnSpc>
              <a:buFont typeface="Wingdings" panose="05000000000000000000" pitchFamily="2" charset="2"/>
              <a:buChar char="v"/>
            </a:pPr>
            <a:r>
              <a:rPr lang="fr-CM" sz="1400" b="1" i="1" noProof="0" dirty="0">
                <a:solidFill>
                  <a:schemeClr val="accent2"/>
                </a:solidFill>
              </a:rPr>
              <a:t>MBENG Fabrice</a:t>
            </a:r>
            <a:endParaRPr lang="fr-CM" sz="1400" i="1" noProof="0" dirty="0">
              <a:solidFill>
                <a:schemeClr val="accent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fr-CM" noProof="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14D92E1-3E8C-1149-1CAB-894D970B0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400" y="-7292"/>
            <a:ext cx="39451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2179636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2436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Défis du Secteur</a:t>
            </a:r>
            <a:endParaRPr lang="fr-CM" sz="2436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23405"/>
            <a:ext cx="3786188" cy="82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fr-CM" sz="1602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Chaos Opérationnel : Pourquoi l'Automatisation est Cruciale pour la Restauration Moderne.</a:t>
            </a:r>
            <a:endParaRPr lang="fr-CM" sz="1602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64300" y="3223190"/>
            <a:ext cx="4079700" cy="85725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6" name="Text 3"/>
          <p:cNvSpPr/>
          <p:nvPr/>
        </p:nvSpPr>
        <p:spPr>
          <a:xfrm>
            <a:off x="778613" y="3437503"/>
            <a:ext cx="3617847" cy="343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987" b="1" i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"La Proposition Gusto : Un système unifié qui garantit la cohérence des données et l'accélération du service."</a:t>
            </a:r>
            <a:endParaRPr lang="fr-CM" sz="987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01513" y="1429805"/>
            <a:ext cx="201446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Erreurs de Commande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01513" y="1720913"/>
            <a:ext cx="3786188" cy="370486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communication manuelle entre la salle et la cuisine est source d'erreurs coûteuses et de gaspillage.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01513" y="2320988"/>
            <a:ext cx="163346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des Stocks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01513" y="2612095"/>
            <a:ext cx="3786188" cy="370486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inventaires manuels mènent à des ruptures de stock inattendues ou à un surstockage inefficace.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01513" y="3212170"/>
            <a:ext cx="1769715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Manque de Données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01513" y="3503278"/>
            <a:ext cx="3786188" cy="370486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 à prendre des décisions rapides sans statistiques agrégées en temps réel sur les performances.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2436" b="1" kern="0" spc="-1" noProof="0" dirty="0">
                <a:solidFill>
                  <a:srgbClr val="003366"/>
                </a:solidFill>
              </a:rPr>
              <a:t>Stack Technique</a:t>
            </a:r>
            <a:endParaRPr lang="fr-CM" sz="2436" noProof="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64" y="1684609"/>
            <a:ext cx="1285875" cy="6765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6408" y="2737842"/>
            <a:ext cx="955390" cy="213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fr-CM" sz="20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fr-CM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9062" y="3078956"/>
            <a:ext cx="1610051" cy="679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fr-CM" sz="11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fr-CM" sz="12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Architecture MVC/Hexagonale
Sécurité JWT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742" y="1594280"/>
            <a:ext cx="857250" cy="857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998715" y="2737842"/>
            <a:ext cx="1021306" cy="213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fr-CM" sz="20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fr-CM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028029" y="3078956"/>
            <a:ext cx="962648" cy="846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fr-CM" sz="1100" b="1" noProof="0" dirty="0" err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fr-CM" sz="11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(Vite)</a:t>
            </a:r>
            <a:r>
              <a:rPr lang="fr-CM" sz="12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Interface Réactive
Vues Multi-Rôles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008" y="1594280"/>
            <a:ext cx="857250" cy="857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28871" y="2737842"/>
            <a:ext cx="1011495" cy="213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fr-CM" sz="2000" b="1" noProof="0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fr-CM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963037" y="3078956"/>
            <a:ext cx="1343165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fr-CM" sz="11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fr-CM" sz="12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Persistance Relationnelle
Intégrité des Données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273" y="1594280"/>
            <a:ext cx="857250" cy="857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25472" y="2737842"/>
            <a:ext cx="868829" cy="213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fr-CM" sz="20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fr-CM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295080" y="3078956"/>
            <a:ext cx="929608" cy="846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fr-CM" sz="11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fr-CM" sz="12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Conteneurisation
</a:t>
            </a:r>
            <a:r>
              <a:rPr lang="fr-CM" sz="120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Multi-stage</a:t>
            </a:r>
            <a:r>
              <a:rPr lang="fr-CM" sz="12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M" sz="120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0" y="4396978"/>
            <a:ext cx="9144000" cy="746522"/>
          </a:xfrm>
          <a:prstGeom prst="rect">
            <a:avLst/>
          </a:prstGeom>
          <a:noFill/>
          <a:ln/>
        </p:spPr>
        <p:txBody>
          <a:bodyPr wrap="square" lIns="680339" tIns="340233" rIns="0" bIns="34023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fr-CM" sz="885" b="1" noProof="0" dirty="0">
                <a:solidFill>
                  <a:srgbClr val="00A3E0"/>
                </a:solidFill>
              </a:rPr>
              <a:t>Architecture robuste conçue pour la performance et la scalabilité.</a:t>
            </a:r>
            <a:endParaRPr lang="fr-CM" sz="885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5664884" cy="415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36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du Menu &amp; Recettes</a:t>
            </a:r>
            <a:endParaRPr lang="fr-CM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23405"/>
            <a:ext cx="1397819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lang="fr-CM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039541"/>
            <a:ext cx="174406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du Menu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325291"/>
            <a:ext cx="3786188" cy="370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hiérarchique des plats, catégories et options via l'interface Manager intuitive.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996803"/>
            <a:ext cx="174567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des Recettes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282553"/>
            <a:ext cx="3786188" cy="370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 plat est lié à une liste précise d'ingrédients et de quantités (ex: Burger = 1 pain, 1 steak).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86313" y="1523405"/>
            <a:ext cx="3786188" cy="255924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0" name="Text 7"/>
          <p:cNvSpPr/>
          <p:nvPr/>
        </p:nvSpPr>
        <p:spPr>
          <a:xfrm>
            <a:off x="5072063" y="1809155"/>
            <a:ext cx="1750479" cy="243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Stock</a:t>
            </a:r>
            <a:endParaRPr lang="fr-CM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59160" y="2541888"/>
            <a:ext cx="310983" cy="254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fr-CM" sz="2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fr-CM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69981" y="2541888"/>
            <a:ext cx="280386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fr-CM" sz="105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Décrémentation Auto :</a:t>
            </a:r>
            <a:r>
              <a:rPr lang="fr-CM" sz="1100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Mise à jour instantanée des stocks lors de la validation d'une commande.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59160" y="3245547"/>
            <a:ext cx="310983" cy="2543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fr-CM" sz="2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fr-CM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569981" y="3245547"/>
            <a:ext cx="280386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fr-CM" sz="105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Alertes Critiques :</a:t>
            </a:r>
            <a:r>
              <a:rPr lang="fr-CM" sz="1100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Notifications automatiques dès qu'un ingrédient atteint son seuil de sécurité.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5398657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32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de Vie d'une Commande</a:t>
            </a:r>
            <a:endParaRPr lang="fr-CM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809155"/>
            <a:ext cx="519373" cy="4816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fr-CM" sz="40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fr-CM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409230"/>
            <a:ext cx="1714500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Prise de Commande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797102"/>
            <a:ext cx="1714500" cy="52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Serveur optimisée pour la rapidité et la gestion dynamique des tables en salle.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881350" y="1809155"/>
            <a:ext cx="519373" cy="4816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fr-CM" sz="40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fr-CM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881350" y="2409230"/>
            <a:ext cx="1714500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API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881350" y="2797102"/>
            <a:ext cx="1714500" cy="52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Envoi sécurisé via Spring Boot (JWT). Persistance immédiate dans la base MySQL.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5600" y="1809155"/>
            <a:ext cx="519373" cy="4816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fr-CM" sz="40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fr-CM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5600" y="2409230"/>
            <a:ext cx="17145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193" b="1" noProof="0" dirty="0">
                <a:solidFill>
                  <a:srgbClr val="003366"/>
                </a:solidFill>
              </a:rPr>
              <a:t>Affichage Cuisine</a:t>
            </a:r>
            <a:endParaRPr lang="fr-CM" sz="1193" noProof="0" dirty="0"/>
          </a:p>
        </p:txBody>
      </p:sp>
      <p:sp>
        <p:nvSpPr>
          <p:cNvPr id="12" name="Text 9"/>
          <p:cNvSpPr/>
          <p:nvPr/>
        </p:nvSpPr>
        <p:spPr>
          <a:xfrm>
            <a:off x="5025600" y="2797102"/>
            <a:ext cx="1714500" cy="52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 à jour instantanée sur le KDS (</a:t>
            </a:r>
            <a:r>
              <a:rPr lang="fr-CM" sz="100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Kitchen</a:t>
            </a: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 System) sans rechargement de page.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62650" y="1809155"/>
            <a:ext cx="519373" cy="4816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fr-CM" sz="40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fr-CM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62650" y="2409230"/>
            <a:ext cx="131715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Suivi Temps Réel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62650" y="2750344"/>
            <a:ext cx="1714500" cy="52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Synchronisation des statuts (En préparation / Prêt) entre la cuisine et le serveur.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7" name="Text 14"/>
          <p:cNvSpPr/>
          <p:nvPr/>
        </p:nvSpPr>
        <p:spPr>
          <a:xfrm>
            <a:off x="571500" y="4572000"/>
            <a:ext cx="8572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090" b="1" noProof="0" dirty="0">
                <a:solidFill>
                  <a:srgbClr val="FFFFFF"/>
                </a:solidFill>
              </a:rPr>
              <a:t>Une architecture asynchrone garantissant une latence minimale pour un service fluide.</a:t>
            </a:r>
            <a:endParaRPr lang="fr-CM" sz="109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3708003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28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Cuisine (KDS)</a:t>
            </a:r>
            <a:endParaRPr lang="fr-CM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23405"/>
            <a:ext cx="159338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Affichage Priorisé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828800"/>
            <a:ext cx="3786188" cy="37048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Tickets triés par heure de réception et urgence. Optimisation du flux de préparation.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464594"/>
            <a:ext cx="167994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des Statuts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769989"/>
            <a:ext cx="3786188" cy="37048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 à jour instantanée (En attente / En préparation / Terminé) via l'interface </a:t>
            </a:r>
            <a:r>
              <a:rPr lang="fr-CM" sz="110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405783"/>
            <a:ext cx="105105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Zéro Papier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711178"/>
            <a:ext cx="3786188" cy="37048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Élimination des tickets physiques pour une meilleure hygiène et une communication fluide.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86313" y="1523405"/>
            <a:ext cx="3786188" cy="292000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1" name="Text 8"/>
          <p:cNvSpPr/>
          <p:nvPr/>
        </p:nvSpPr>
        <p:spPr>
          <a:xfrm>
            <a:off x="5072063" y="1809155"/>
            <a:ext cx="3214688" cy="2502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987" b="1" kern="0" spc="2" noProof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Kitchen</a:t>
            </a:r>
            <a:r>
              <a:rPr lang="fr-CM" sz="987" b="1" kern="0" spc="2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 System</a:t>
            </a:r>
            <a:endParaRPr lang="fr-CM" sz="987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72063" y="2303859"/>
            <a:ext cx="1535906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fr-CM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14938" y="2446734"/>
            <a:ext cx="402354" cy="107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683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Attente</a:t>
            </a:r>
            <a:endParaRPr lang="fr-CM" sz="683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214938" y="2653903"/>
            <a:ext cx="179536" cy="224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397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fr-CM" sz="1397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50844" y="2303859"/>
            <a:ext cx="1535906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6" name="Text 13"/>
          <p:cNvSpPr/>
          <p:nvPr/>
        </p:nvSpPr>
        <p:spPr>
          <a:xfrm>
            <a:off x="6893719" y="2446734"/>
            <a:ext cx="354264" cy="107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683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Cours</a:t>
            </a:r>
            <a:endParaRPr lang="fr-CM" sz="683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93719" y="2653903"/>
            <a:ext cx="179536" cy="224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397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fr-CM" sz="1397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72063" y="3161109"/>
            <a:ext cx="1535906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9" name="Text 16"/>
          <p:cNvSpPr/>
          <p:nvPr/>
        </p:nvSpPr>
        <p:spPr>
          <a:xfrm>
            <a:off x="5214938" y="3303984"/>
            <a:ext cx="192360" cy="107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683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Prêts</a:t>
            </a:r>
            <a:endParaRPr lang="fr-CM" sz="683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214938" y="3511153"/>
            <a:ext cx="179536" cy="224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397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fr-CM" sz="1397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750844" y="3161109"/>
            <a:ext cx="1535906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22" name="Text 19"/>
          <p:cNvSpPr/>
          <p:nvPr/>
        </p:nvSpPr>
        <p:spPr>
          <a:xfrm>
            <a:off x="6893719" y="3303984"/>
            <a:ext cx="530594" cy="107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683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 Moyen</a:t>
            </a:r>
            <a:endParaRPr lang="fr-CM" sz="683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893719" y="3511153"/>
            <a:ext cx="328616" cy="224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397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14m</a:t>
            </a:r>
            <a:endParaRPr lang="fr-CM" sz="1397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072063" y="4161234"/>
            <a:ext cx="3214688" cy="282178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25" name="Text 22"/>
          <p:cNvSpPr/>
          <p:nvPr/>
        </p:nvSpPr>
        <p:spPr>
          <a:xfrm>
            <a:off x="5072063" y="4161234"/>
            <a:ext cx="3214688" cy="270780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fr-CM" sz="885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ALERTE : Commande #402 (Retard)</a:t>
            </a:r>
            <a:endParaRPr lang="fr-CM" sz="885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3540072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32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Pilotage Stratégique</a:t>
            </a:r>
            <a:endParaRPr lang="fr-CM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666280"/>
            <a:ext cx="1987724" cy="286617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6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&amp; Facturation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218134"/>
            <a:ext cx="1962332" cy="180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Facturation PDF Automatisée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503884"/>
            <a:ext cx="3714750" cy="39094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instantanée de factures conformes aux normes fiscales directement depuis l'interface d’encaissement.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3201070"/>
            <a:ext cx="1494448" cy="180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 Promotions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486820"/>
            <a:ext cx="3714750" cy="39292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flexible des remises (Happy </a:t>
            </a:r>
            <a:r>
              <a:rPr lang="fr-CM" sz="105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coupons, offres groupées) avec application automatique en caisse.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57750" y="1666280"/>
            <a:ext cx="2144818" cy="286617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6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de Performance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57750" y="2218134"/>
            <a:ext cx="1520416" cy="180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Temps Réel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57750" y="2503884"/>
            <a:ext cx="3714750" cy="39292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 des KPIs critiques : CA horaire, plats les plus vendus et taux de rotation des tables.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57750" y="3201070"/>
            <a:ext cx="1176604" cy="180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Aide à la Décision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57750" y="3486820"/>
            <a:ext cx="3714750" cy="39292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des données MySQL pour optimiser les stocks et la planification du personnel.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5" name="Text 12"/>
          <p:cNvSpPr/>
          <p:nvPr/>
        </p:nvSpPr>
        <p:spPr>
          <a:xfrm>
            <a:off x="571500" y="4572000"/>
            <a:ext cx="71437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987" b="1" noProof="0" dirty="0">
                <a:solidFill>
                  <a:srgbClr val="FFFFFF"/>
                </a:solidFill>
              </a:rPr>
              <a:t>Gusto transforme les données transactionnelles en insights actionnables pour une gestion proactive et rentable du restaurant.</a:t>
            </a:r>
            <a:endParaRPr lang="fr-CM" sz="987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3189143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32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Qualité Logicielle </a:t>
            </a:r>
            <a:endParaRPr lang="fr-CM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666280"/>
            <a:ext cx="3028950" cy="286955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2094905"/>
            <a:ext cx="2143125" cy="1428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74077" y="3809405"/>
            <a:ext cx="2423796" cy="428625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7" name="Text 3"/>
          <p:cNvSpPr/>
          <p:nvPr/>
        </p:nvSpPr>
        <p:spPr>
          <a:xfrm>
            <a:off x="874077" y="3809405"/>
            <a:ext cx="2423796" cy="428625"/>
          </a:xfrm>
          <a:prstGeom prst="rect">
            <a:avLst/>
          </a:prstGeom>
          <a:noFill/>
          <a:ln/>
        </p:spPr>
        <p:txBody>
          <a:bodyPr wrap="square" lIns="255143" tIns="127508" rIns="25514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193" b="1" noProof="0" dirty="0" err="1">
                <a:solidFill>
                  <a:srgbClr val="FFFFFF"/>
                </a:solidFill>
              </a:rPr>
              <a:t>Quality</a:t>
            </a:r>
            <a:r>
              <a:rPr lang="fr-CM" sz="1193" b="1" noProof="0" dirty="0">
                <a:solidFill>
                  <a:srgbClr val="FFFFFF"/>
                </a:solidFill>
              </a:rPr>
              <a:t> </a:t>
            </a:r>
            <a:r>
              <a:rPr lang="fr-CM" sz="1193" b="1" noProof="0" dirty="0" err="1">
                <a:solidFill>
                  <a:srgbClr val="FFFFFF"/>
                </a:solidFill>
              </a:rPr>
              <a:t>Gate</a:t>
            </a:r>
            <a:r>
              <a:rPr lang="fr-CM" sz="1193" b="1" noProof="0" dirty="0">
                <a:solidFill>
                  <a:srgbClr val="FFFFFF"/>
                </a:solidFill>
              </a:rPr>
              <a:t>: </a:t>
            </a:r>
            <a:r>
              <a:rPr lang="fr-CM" sz="1193" b="1" noProof="0" dirty="0" err="1">
                <a:solidFill>
                  <a:srgbClr val="FFFFFF"/>
                </a:solidFill>
              </a:rPr>
              <a:t>Passed</a:t>
            </a:r>
            <a:endParaRPr lang="fr-CM" sz="1193" noProof="0" dirty="0"/>
          </a:p>
        </p:txBody>
      </p:sp>
      <p:sp>
        <p:nvSpPr>
          <p:cNvPr id="8" name="Text 4"/>
          <p:cNvSpPr/>
          <p:nvPr/>
        </p:nvSpPr>
        <p:spPr>
          <a:xfrm>
            <a:off x="4029075" y="1486280"/>
            <a:ext cx="2518382" cy="24365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 Unitaires &amp; </a:t>
            </a:r>
            <a:r>
              <a:rPr lang="fr-CM" sz="1600" b="1" noProof="0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Mocking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029075" y="1830966"/>
            <a:ext cx="4543425" cy="390941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</a:t>
            </a:r>
            <a:r>
              <a:rPr lang="fr-CM" sz="10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CM" sz="1000" b="1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Mockito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valider les services critiques (stocks, calculs de prix) et isoler les dépendances.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029075" y="2528151"/>
            <a:ext cx="2412712" cy="24365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Statique de Code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029075" y="2872837"/>
            <a:ext cx="4543425" cy="390941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</a:t>
            </a:r>
            <a:r>
              <a:rPr lang="fr-CM" sz="1000" b="1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détecter la dette technique, les bugs potentiels et les vulnérabilités de sécurité en temps réel.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029075" y="4050060"/>
            <a:ext cx="79028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fr-CM" sz="2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80%+</a:t>
            </a:r>
            <a:endParaRPr lang="fr-CM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029075" y="4400104"/>
            <a:ext cx="100027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9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Couverture de Code</a:t>
            </a:r>
            <a:endParaRPr lang="fr-CM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692257" y="4050060"/>
            <a:ext cx="22281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fr-CM" sz="2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fr-CM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692257" y="4400104"/>
            <a:ext cx="81432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9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de Fiabilité</a:t>
            </a:r>
            <a:endParaRPr lang="fr-CM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174697" y="4050060"/>
            <a:ext cx="155492" cy="312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fr-CM" sz="2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fr-CM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174697" y="4400104"/>
            <a:ext cx="1189428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9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Vulnérabilités Critiques</a:t>
            </a:r>
            <a:endParaRPr lang="fr-CM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9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3784819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28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Usine Logicielle (CI-CD)</a:t>
            </a:r>
            <a:endParaRPr lang="fr-CM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637705"/>
            <a:ext cx="3028950" cy="28575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066330"/>
            <a:ext cx="1428750" cy="1428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1587" y="3780830"/>
            <a:ext cx="2528748" cy="392906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7" name="Text 3"/>
          <p:cNvSpPr/>
          <p:nvPr/>
        </p:nvSpPr>
        <p:spPr>
          <a:xfrm>
            <a:off x="821587" y="3780830"/>
            <a:ext cx="2528748" cy="392906"/>
          </a:xfrm>
          <a:prstGeom prst="rect">
            <a:avLst/>
          </a:prstGeom>
          <a:noFill/>
          <a:ln/>
        </p:spPr>
        <p:txBody>
          <a:bodyPr wrap="square" lIns="212598" tIns="127508" rIns="21259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987" b="1" noProof="0" dirty="0">
                <a:solidFill>
                  <a:srgbClr val="FFFFFF"/>
                </a:solidFill>
              </a:rPr>
              <a:t>GitHub Actions Workflow</a:t>
            </a:r>
            <a:endParaRPr lang="fr-CM" sz="987" noProof="0" dirty="0"/>
          </a:p>
        </p:txBody>
      </p:sp>
      <p:sp>
        <p:nvSpPr>
          <p:cNvPr id="8" name="Text 4"/>
          <p:cNvSpPr/>
          <p:nvPr/>
        </p:nvSpPr>
        <p:spPr>
          <a:xfrm>
            <a:off x="4351331" y="1270505"/>
            <a:ext cx="1879232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Déclenchement Automatique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351331" y="1561613"/>
            <a:ext cx="4321969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 </a:t>
            </a:r>
            <a:r>
              <a:rPr lang="fr-CM" sz="9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CM" sz="9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 </a:t>
            </a:r>
            <a:r>
              <a:rPr lang="fr-CM" sz="900" b="1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la branche principale lance instantanément le cycle de validation.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351331" y="2197406"/>
            <a:ext cx="1350498" cy="1899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Étapes de Validation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351331" y="2488514"/>
            <a:ext cx="4321969" cy="370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Compilation Maven/Node, exécution des tests JUnit, et analyse de code </a:t>
            </a:r>
            <a:r>
              <a:rPr lang="fr-CM" sz="100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garantir la qualité.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351331" y="3124308"/>
            <a:ext cx="1609415" cy="1899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2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Artefact de Déploiement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351331" y="3415416"/>
            <a:ext cx="4321969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et taggage automatique de l'image </a:t>
            </a:r>
            <a:r>
              <a:rPr lang="fr-CM" sz="9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fr-CM" sz="10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prête pour un déploiement sécurisé.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0" y="4495205"/>
            <a:ext cx="9144000" cy="714375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5" name="Text 11"/>
          <p:cNvSpPr/>
          <p:nvPr/>
        </p:nvSpPr>
        <p:spPr>
          <a:xfrm>
            <a:off x="285750" y="4872038"/>
            <a:ext cx="68848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fr-CM" sz="885" b="1" i="1" noProof="0" dirty="0">
                <a:solidFill>
                  <a:srgbClr val="FFFFFF"/>
                </a:solidFill>
              </a:rPr>
              <a:t>"Une automatisation totale pour garantir que seul le code testé et validé atteint l'environnement de production."</a:t>
            </a:r>
            <a:endParaRPr lang="fr-CM" sz="885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4" name="Shape 1"/>
          <p:cNvSpPr/>
          <p:nvPr/>
        </p:nvSpPr>
        <p:spPr>
          <a:xfrm>
            <a:off x="742950" y="714375"/>
            <a:ext cx="1714500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fr-CM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267" y="785813"/>
            <a:ext cx="967839" cy="71434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2950" y="2000250"/>
            <a:ext cx="1714500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fr-CM" noProof="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013" y="2071688"/>
            <a:ext cx="714375" cy="7143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4872" y="3050543"/>
            <a:ext cx="952516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193" b="1" kern="0" spc="3" noProof="0" dirty="0">
                <a:solidFill>
                  <a:srgbClr val="FFFFFF"/>
                </a:solidFill>
              </a:rPr>
              <a:t>Infrastructure</a:t>
            </a:r>
            <a:endParaRPr lang="fr-CM" sz="1193" noProof="0" dirty="0"/>
          </a:p>
        </p:txBody>
      </p:sp>
      <p:sp>
        <p:nvSpPr>
          <p:cNvPr id="9" name="Text 4"/>
          <p:cNvSpPr/>
          <p:nvPr/>
        </p:nvSpPr>
        <p:spPr>
          <a:xfrm>
            <a:off x="3771900" y="628650"/>
            <a:ext cx="3908634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3200" b="1" kern="0" spc="-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Docker</a:t>
            </a:r>
            <a:endParaRPr lang="fr-CM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771900" y="1523405"/>
            <a:ext cx="137056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Conteneurisation 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771900" y="1828800"/>
            <a:ext cx="4800600" cy="39094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des images Docker en séparant les phases de </a:t>
            </a:r>
            <a:r>
              <a:rPr lang="fr-CM" sz="105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(Maven/Node) et de runtime (Nginx) pour une sécurité et une légèreté accrues.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71900" y="2767422"/>
            <a:ext cx="242842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 Docker Compose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771900" y="3072817"/>
            <a:ext cx="2605072" cy="1894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unifiée des services interconnectés :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3771900" y="3362438"/>
            <a:ext cx="1166165" cy="252303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5" name="Text 10"/>
          <p:cNvSpPr/>
          <p:nvPr/>
        </p:nvSpPr>
        <p:spPr>
          <a:xfrm>
            <a:off x="3771900" y="3378772"/>
            <a:ext cx="1358843" cy="204030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gusto-frontend</a:t>
            </a:r>
            <a:endParaRPr lang="fr-CM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205223" y="3351676"/>
            <a:ext cx="1574948" cy="263066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7" name="Text 12"/>
          <p:cNvSpPr/>
          <p:nvPr/>
        </p:nvSpPr>
        <p:spPr>
          <a:xfrm>
            <a:off x="5500423" y="3393172"/>
            <a:ext cx="1205268" cy="204030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105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gusto-backend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047329" y="3349973"/>
            <a:ext cx="1175071" cy="26163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9" name="Text 14"/>
          <p:cNvSpPr/>
          <p:nvPr/>
        </p:nvSpPr>
        <p:spPr>
          <a:xfrm>
            <a:off x="7256129" y="3400372"/>
            <a:ext cx="793471" cy="204030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fr-CM" sz="11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gusto-</a:t>
            </a:r>
            <a:r>
              <a:rPr lang="fr-CM" sz="1100" b="1" noProof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fr-CM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771900" y="3878610"/>
            <a:ext cx="45845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771900" y="4184005"/>
            <a:ext cx="4800600" cy="3929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d'entrée unique gérant le routage du trafic, la terminaison SSL et la sécurité des en-têtes HTTP.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294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fr-CM" sz="2436" b="1" kern="0" spc="-1" noProof="0" dirty="0">
                <a:solidFill>
                  <a:srgbClr val="003366"/>
                </a:solidFill>
              </a:rPr>
              <a:t>Observabilité &amp; Monitoring</a:t>
            </a:r>
            <a:endParaRPr lang="fr-CM" sz="2436" noProof="0" dirty="0"/>
          </a:p>
        </p:txBody>
      </p:sp>
      <p:sp>
        <p:nvSpPr>
          <p:cNvPr id="4" name="Shape 1"/>
          <p:cNvSpPr/>
          <p:nvPr/>
        </p:nvSpPr>
        <p:spPr>
          <a:xfrm>
            <a:off x="571500" y="1609130"/>
            <a:ext cx="3028950" cy="3720331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2037755"/>
            <a:ext cx="1714500" cy="8572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3180755"/>
            <a:ext cx="1714500" cy="8572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07449" y="4323755"/>
            <a:ext cx="1957025" cy="2857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8" name="Text 3"/>
          <p:cNvSpPr/>
          <p:nvPr/>
        </p:nvSpPr>
        <p:spPr>
          <a:xfrm>
            <a:off x="1107449" y="4323755"/>
            <a:ext cx="1957025" cy="28575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fr-CM" sz="885" b="1" noProof="0" dirty="0" err="1">
                <a:solidFill>
                  <a:srgbClr val="FFFFFF"/>
                </a:solidFill>
              </a:rPr>
              <a:t>Metrics</a:t>
            </a:r>
            <a:r>
              <a:rPr lang="fr-CM" sz="885" b="1" noProof="0" dirty="0">
                <a:solidFill>
                  <a:srgbClr val="FFFFFF"/>
                </a:solidFill>
              </a:rPr>
              <a:t> &amp; Logs Pipeline</a:t>
            </a:r>
            <a:endParaRPr lang="fr-CM" sz="885" noProof="0" dirty="0"/>
          </a:p>
        </p:txBody>
      </p:sp>
      <p:sp>
        <p:nvSpPr>
          <p:cNvPr id="9" name="Text 4"/>
          <p:cNvSpPr/>
          <p:nvPr/>
        </p:nvSpPr>
        <p:spPr>
          <a:xfrm>
            <a:off x="4100512" y="2560880"/>
            <a:ext cx="2398092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fr-CM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du Système</a:t>
            </a:r>
            <a:endParaRPr lang="fr-CM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100512" y="2884134"/>
            <a:ext cx="4543425" cy="39215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100" i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</a:t>
            </a:r>
            <a:r>
              <a:rPr lang="fr-CM" sz="1050" b="1" i="1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Prometheus</a:t>
            </a:r>
            <a:r>
              <a:rPr lang="fr-CM" sz="1100" i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collecter les métriques de performance (CPU, RAM, latence API) du VPS en temps réel.</a:t>
            </a:r>
            <a:endParaRPr lang="fr-CM" sz="11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029075" y="1609130"/>
            <a:ext cx="2321148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fr-CM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Centralisation des Logs</a:t>
            </a:r>
            <a:endParaRPr lang="fr-CM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029075" y="1932385"/>
            <a:ext cx="4543425" cy="39215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 en place de </a:t>
            </a:r>
            <a:r>
              <a:rPr lang="fr-CM" sz="1100" b="1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logback</a:t>
            </a:r>
            <a:r>
              <a:rPr lang="fr-CM" sz="110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agréger et indexer les logs dans toute notre application.</a:t>
            </a:r>
            <a:endParaRPr lang="fr-CM" sz="11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029075" y="3578572"/>
            <a:ext cx="1609415" cy="230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fr-CM" b="1" i="1" noProof="0" dirty="0" err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Alerting</a:t>
            </a:r>
            <a:r>
              <a:rPr lang="fr-CM" b="1" i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Proactif</a:t>
            </a:r>
            <a:endParaRPr lang="fr-CM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029075" y="3901827"/>
            <a:ext cx="4543425" cy="39094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100" i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d'alertes automatiques sur seuils critiques pour une résolution d'incidents avant impact utilisateur.</a:t>
            </a:r>
            <a:endParaRPr lang="fr-CM" sz="11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029075" y="4563294"/>
            <a:ext cx="4543425" cy="766167"/>
          </a:xfrm>
          <a:prstGeom prst="rect">
            <a:avLst/>
          </a:prstGeom>
          <a:noFill/>
          <a:ln/>
        </p:spPr>
        <p:txBody>
          <a:bodyPr wrap="square" lIns="0" tIns="340233" rIns="0" bIns="34023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987" b="1" i="1" noProof="0" dirty="0">
                <a:solidFill>
                  <a:srgbClr val="003366"/>
                </a:solidFill>
              </a:rPr>
              <a:t>"On ne peut pas améliorer ce que l'on ne mesure pas."</a:t>
            </a:r>
            <a:endParaRPr lang="fr-CM" sz="987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79811" cy="51435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4" name="Text 1"/>
          <p:cNvSpPr/>
          <p:nvPr/>
        </p:nvSpPr>
        <p:spPr>
          <a:xfrm>
            <a:off x="571500" y="842963"/>
            <a:ext cx="4208311" cy="78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fr-CM" sz="3200" b="1" kern="0" spc="-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
L'Approche DevOps</a:t>
            </a:r>
            <a:endParaRPr lang="fr-CM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025923"/>
            <a:ext cx="109485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Bénéfices Clés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331318"/>
            <a:ext cx="3571875" cy="370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050" noProof="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Réduction du Time-to-</a:t>
            </a:r>
            <a:r>
              <a:rPr lang="fr-CM" sz="1050" noProof="0" dirty="0" err="1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lang="fr-CM" sz="1050" noProof="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automatisation de la qualité et déploiements haute disponibilité sans interruption.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3002831"/>
            <a:ext cx="79669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fr-CM" sz="1400" b="1" noProof="0" dirty="0">
                <a:solidFill>
                  <a:srgbClr val="00A3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Scalabilité</a:t>
            </a:r>
            <a:endParaRPr lang="fr-CM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308226"/>
            <a:ext cx="3571875" cy="370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050" noProof="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conteneurisée permettant une mise à l'échelle horizontale fluide selon la charge du restaurant.</a:t>
            </a:r>
            <a:endParaRPr lang="fr-CM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08436" y="571500"/>
            <a:ext cx="3506939" cy="3375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0" name="Shape 7"/>
          <p:cNvSpPr/>
          <p:nvPr/>
        </p:nvSpPr>
        <p:spPr>
          <a:xfrm>
            <a:off x="5208436" y="880467"/>
            <a:ext cx="3506939" cy="28575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fr-CM" noProof="0" dirty="0"/>
          </a:p>
        </p:txBody>
      </p:sp>
      <p:sp>
        <p:nvSpPr>
          <p:cNvPr id="11" name="Text 8"/>
          <p:cNvSpPr/>
          <p:nvPr/>
        </p:nvSpPr>
        <p:spPr>
          <a:xfrm>
            <a:off x="5208436" y="571500"/>
            <a:ext cx="1085233" cy="286617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fr-CM" sz="1600" b="1" noProof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Perspectives</a:t>
            </a:r>
            <a:endParaRPr lang="fr-CM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37036" y="1166217"/>
            <a:ext cx="3278339" cy="3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Paiements Mobiles :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Intégration native de </a:t>
            </a:r>
            <a:r>
              <a:rPr lang="fr-CM" sz="105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PayPal pour une facturation sans contact.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37036" y="1740564"/>
            <a:ext cx="3278339" cy="3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Mobilité Accrue :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Développement d'une application mobile dédiée pour les serveurs en salle.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37036" y="2314910"/>
            <a:ext cx="3278339" cy="3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fr-CM" sz="1000" b="1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 :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Migration vers </a:t>
            </a:r>
            <a:r>
              <a:rPr lang="fr-CM" sz="105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une gestion avancée des </a:t>
            </a:r>
            <a:r>
              <a:rPr lang="fr-CM" sz="1050" noProof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fr-CM" sz="1050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CM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08436" y="4143375"/>
            <a:ext cx="3506939" cy="1060868"/>
          </a:xfrm>
          <a:prstGeom prst="rect">
            <a:avLst/>
          </a:prstGeom>
          <a:noFill/>
          <a:ln/>
        </p:spPr>
        <p:txBody>
          <a:bodyPr wrap="square" lIns="0" tIns="0" rIns="0" bIns="680339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fr-CM" sz="1200" b="1" i="1" noProof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Gusto : Une preuve de concept moderne pour les défis réels de la restauration.</a:t>
            </a:r>
            <a:endParaRPr lang="fr-CM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928</Words>
  <Application>Microsoft Office PowerPoint</Application>
  <PresentationFormat>Affichage à l'écran (16:9)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Mckevin kamguem</cp:lastModifiedBy>
  <cp:revision>6</cp:revision>
  <dcterms:created xsi:type="dcterms:W3CDTF">2026-01-15T12:41:01Z</dcterms:created>
  <dcterms:modified xsi:type="dcterms:W3CDTF">2026-01-17T08:25:54Z</dcterms:modified>
</cp:coreProperties>
</file>